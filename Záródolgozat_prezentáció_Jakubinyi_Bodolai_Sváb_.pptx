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AD1F7F-7D98-EAF2-3A4C-5FEDDE980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82BB1FD-55B2-C59F-D3FB-96B91101C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8629EC1-1840-9717-2759-A63149C4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5D0ACC-0CCB-8FA7-6BED-D5B6159F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272690-6F06-D208-5342-3ECFA358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342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464B09-5DC7-36EC-1D6B-3638AB58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577CB9-A50D-F288-CC86-AFF98E425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495DF7-5D2B-DEBE-A8A6-A30584C1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9BFC5FE-8D06-4211-9ED4-D2A4299F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23A180-68E1-5E8F-5E9D-3BD90151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658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87DDC2-04D5-634E-2E87-E83B7C93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6711AE7-39A0-09EC-A4F9-1D2C93CE1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F39A783-9A9F-B398-C32B-54D98BFD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033D65A-4002-2ABC-EE91-FC8987E4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293075D-A73C-8C4A-9D58-C59C9061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661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CCCBE6-A1CA-79CB-589B-7744EFE8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11B8D7-0F16-DB14-D05A-7EE882174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B5331FE-F41C-771D-F6F6-779FA28EF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F29ADA3-CA5F-A3FA-7B07-4DBCBE36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AF8FBD-227A-2860-DC3A-065F7A67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2F9A5DE-84E1-6207-6681-FBAC8443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027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198C46-B0B0-7CFD-7C05-E08270A1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2C65CAB-BEEF-2C50-113E-3C99EDFCD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E36930F-31D7-2D2F-C25C-6C7CCB42F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1EEAE62-56B9-F861-F1DC-F415A9D6A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9E724C6-084A-B013-FC15-B756CA48C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6A50DF0-CE70-E01E-6C43-3F482685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A11B16A-0126-29D2-289E-479220C6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070C01AD-3F70-E0F7-8658-6D02291E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376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3494AE-62E8-EB54-AC53-8137C5CC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0216772-44D1-C87A-CDA6-AD01E12A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F57DC8-E2C3-F7C8-C23C-9A91D585D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8EBEAED-111A-A6C9-E7DF-B24DC804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856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CC73F8F-2CCE-187D-C8A8-40427990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1F66ACE-EE96-349D-4A56-975C26FF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4351A59-EA9C-C263-671F-C0FE8815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248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2CF951-A976-189F-7DC1-68F137DA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4DDA39-198C-B71D-19B8-FA3E99A40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FF6B42-29EC-C067-2290-9619132B8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DB3B6A1-771A-728E-3B6B-F0CD65C4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4F6BF6B-C070-B4D3-0389-A854CE1E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7E8D496-613C-CFE5-5D5B-EE2ACEBC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3292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AB3A26-CF91-F301-C413-177B49CD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900B0EE-83A1-D4D9-7019-0F0C2B399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B32EDA-EA10-ADB4-CEA9-5133C28D0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F14F023-5512-F474-0E4C-6DAEB8ED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53E41D0-C9AF-AA8E-593C-78F7A940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6C28CE1-E2C1-2E90-1433-B58D61B3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966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0A33F1-6702-EC92-2A1B-492B7977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FF94845-0A69-DD27-7007-414ECFCC4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58BE191-1F0C-2088-BD85-1FAA9A19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FA5C062-C054-D221-2235-0432ADD5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5209191-09A3-3C11-5A84-D7E8E71C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5040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37128B7-7381-1856-E067-593B5509B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C729C72-CCFE-B92E-4A6E-C6B36B846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CE62004-F2FB-4493-C2A6-7440B59A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47C701-1995-EF48-2F76-A784DA90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30768E-19CA-DA7D-D254-E2E89AC6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957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8DF433F-38A4-7888-7F25-7333120B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LID4096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13C40D-D466-2EA1-0D7A-ED44AD37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LID4096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972E20-5BD5-8A2C-B479-EE71FAB78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0FBD7-3BB1-4F55-A092-43375967AF2D}" type="datetimeFigureOut">
              <a:rPr lang="LID4096" smtClean="0"/>
              <a:t>10/05/2026</a:t>
            </a:fld>
            <a:endParaRPr lang="LID4096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706AB50-BD5D-2717-77F3-0E6BFCC05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158EA5D-6471-FF7B-0A75-CF5DD12B9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3763D-3D09-49EB-82C9-B32014FEBA1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98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1757FE-3C3C-B3A4-1485-72B03A824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121" y="808038"/>
            <a:ext cx="9505361" cy="2387600"/>
          </a:xfrm>
        </p:spPr>
        <p:txBody>
          <a:bodyPr>
            <a:normAutofit fontScale="90000"/>
          </a:bodyPr>
          <a:lstStyle/>
          <a:p>
            <a:r>
              <a:rPr lang="hu-HU" dirty="0"/>
              <a:t>Záródolgozat prezentáció</a:t>
            </a:r>
            <a:br>
              <a:rPr lang="hu-HU" dirty="0"/>
            </a:br>
            <a:r>
              <a:rPr lang="hu-HU" dirty="0"/>
              <a:t>ADATKEZELŐ WEBALKALMAZÁS</a:t>
            </a:r>
            <a:endParaRPr lang="LID4096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BB19908-C3DF-1CF9-50DF-FF4FBEB467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Szoftverfejlesztő és tesztelő képzés</a:t>
            </a:r>
          </a:p>
          <a:p>
            <a:endParaRPr lang="hu-HU" dirty="0"/>
          </a:p>
          <a:p>
            <a:endParaRPr lang="LID4096" dirty="0"/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9C6DFFA4-18AF-1EE1-9F6F-1BEA1F734E98}"/>
              </a:ext>
            </a:extLst>
          </p:cNvPr>
          <p:cNvSpPr txBox="1">
            <a:spLocks/>
          </p:cNvSpPr>
          <p:nvPr/>
        </p:nvSpPr>
        <p:spPr>
          <a:xfrm>
            <a:off x="0" y="51830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2026.10.10</a:t>
            </a:r>
          </a:p>
          <a:p>
            <a:endParaRPr lang="hu-HU" dirty="0"/>
          </a:p>
          <a:p>
            <a:endParaRPr lang="LID4096" dirty="0"/>
          </a:p>
        </p:txBody>
      </p:sp>
      <p:sp>
        <p:nvSpPr>
          <p:cNvPr id="5" name="Alcím 2">
            <a:extLst>
              <a:ext uri="{FF2B5EF4-FFF2-40B4-BE49-F238E27FC236}">
                <a16:creationId xmlns:a16="http://schemas.microsoft.com/office/drawing/2014/main" id="{EDABB5FC-5221-2278-D5DD-BE4C62A4DD93}"/>
              </a:ext>
            </a:extLst>
          </p:cNvPr>
          <p:cNvSpPr txBox="1">
            <a:spLocks/>
          </p:cNvSpPr>
          <p:nvPr/>
        </p:nvSpPr>
        <p:spPr>
          <a:xfrm>
            <a:off x="4672584" y="52022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 err="1"/>
              <a:t>Jakubinyi</a:t>
            </a:r>
            <a:r>
              <a:rPr lang="hu-HU" dirty="0"/>
              <a:t> Hanga</a:t>
            </a:r>
          </a:p>
          <a:p>
            <a:r>
              <a:rPr lang="hu-HU" dirty="0" err="1"/>
              <a:t>Bodolai</a:t>
            </a:r>
            <a:r>
              <a:rPr lang="hu-HU" dirty="0"/>
              <a:t>-Zsoldos Anna</a:t>
            </a:r>
          </a:p>
          <a:p>
            <a:r>
              <a:rPr lang="hu-HU" dirty="0"/>
              <a:t>Sváb Martin</a:t>
            </a:r>
          </a:p>
          <a:p>
            <a:endParaRPr lang="hu-HU" dirty="0"/>
          </a:p>
          <a:p>
            <a:endParaRPr lang="hu-HU" dirty="0"/>
          </a:p>
          <a:p>
            <a:endParaRPr lang="LID4096" dirty="0"/>
          </a:p>
        </p:txBody>
      </p:sp>
      <p:pic>
        <p:nvPicPr>
          <p:cNvPr id="6" name="Kép 5" descr="Mi az a webshop audit és hogyan növeli céged bevételeit?">
            <a:extLst>
              <a:ext uri="{FF2B5EF4-FFF2-40B4-BE49-F238E27FC236}">
                <a16:creationId xmlns:a16="http://schemas.microsoft.com/office/drawing/2014/main" id="{DCEDD455-5D5D-71F7-CB72-6844A848A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4" y="4649079"/>
            <a:ext cx="3609317" cy="203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F35374-659F-A9A8-622A-ED9B7EF0D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CAFD2D-FBFE-C7F6-CEB2-B4E3E06B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608"/>
            <a:ext cx="10515600" cy="5422392"/>
          </a:xfrm>
        </p:spPr>
        <p:txBody>
          <a:bodyPr>
            <a:normAutofit fontScale="40000" lnSpcReduction="20000"/>
          </a:bodyPr>
          <a:lstStyle/>
          <a:p>
            <a:endParaRPr lang="hu-HU" dirty="0"/>
          </a:p>
          <a:p>
            <a:r>
              <a:rPr lang="hu-HU" sz="4000" dirty="0"/>
              <a:t>Bevezetés </a:t>
            </a:r>
          </a:p>
          <a:p>
            <a:r>
              <a:rPr lang="hu-HU" sz="4000" dirty="0"/>
              <a:t>A projekt célja és követelményrendszere </a:t>
            </a:r>
          </a:p>
          <a:p>
            <a:r>
              <a:rPr lang="hu-HU" sz="4000" dirty="0"/>
              <a:t>Alkalmazott fejlesztési módszertan </a:t>
            </a:r>
          </a:p>
          <a:p>
            <a:r>
              <a:rPr lang="hu-HU" sz="4000" dirty="0"/>
              <a:t>Felhasznált technológiák részletes bemutatása </a:t>
            </a:r>
          </a:p>
          <a:p>
            <a:r>
              <a:rPr lang="hu-HU" sz="4000" dirty="0"/>
              <a:t>A rendszer architektúrája </a:t>
            </a:r>
          </a:p>
          <a:p>
            <a:r>
              <a:rPr lang="hu-HU" sz="4000" dirty="0"/>
              <a:t>Backend megvalósítás (</a:t>
            </a:r>
            <a:r>
              <a:rPr lang="hu-HU" sz="4000" dirty="0" err="1"/>
              <a:t>Laravel</a:t>
            </a:r>
            <a:r>
              <a:rPr lang="hu-HU" sz="4000" dirty="0"/>
              <a:t>) </a:t>
            </a:r>
          </a:p>
          <a:p>
            <a:r>
              <a:rPr lang="hu-HU" sz="4000" dirty="0"/>
              <a:t>Frontend megvalósítás </a:t>
            </a:r>
          </a:p>
          <a:p>
            <a:r>
              <a:rPr lang="hu-HU" sz="4000" dirty="0"/>
              <a:t>Adatbázis-tervezés és megvalósítás </a:t>
            </a:r>
          </a:p>
          <a:p>
            <a:r>
              <a:rPr lang="hu-HU" sz="4000" dirty="0"/>
              <a:t>Funkcionális leírás (</a:t>
            </a:r>
            <a:r>
              <a:rPr lang="hu-HU" sz="4000" dirty="0" err="1"/>
              <a:t>use</a:t>
            </a:r>
            <a:r>
              <a:rPr lang="hu-HU" sz="4000" dirty="0"/>
              <a:t> </a:t>
            </a:r>
            <a:r>
              <a:rPr lang="hu-HU" sz="4000" dirty="0" err="1"/>
              <a:t>case</a:t>
            </a:r>
            <a:r>
              <a:rPr lang="hu-HU" sz="4000" dirty="0"/>
              <a:t>-ek) </a:t>
            </a:r>
          </a:p>
          <a:p>
            <a:r>
              <a:rPr lang="hu-HU" sz="4000" dirty="0"/>
              <a:t>Felhasználói dokumentáció </a:t>
            </a:r>
          </a:p>
          <a:p>
            <a:r>
              <a:rPr lang="hu-HU" sz="4000" dirty="0"/>
              <a:t>Hibakezelés és validáció </a:t>
            </a:r>
          </a:p>
          <a:p>
            <a:r>
              <a:rPr lang="hu-HU" sz="4000" dirty="0"/>
              <a:t>Tesztelési dokumentáció </a:t>
            </a:r>
          </a:p>
          <a:p>
            <a:r>
              <a:rPr lang="hu-HU" sz="4000" dirty="0"/>
              <a:t>Verziókezelés és munkafolyamat </a:t>
            </a:r>
          </a:p>
          <a:p>
            <a:r>
              <a:rPr lang="hu-HU" sz="4000" dirty="0"/>
              <a:t>Biztonsági megoldások </a:t>
            </a:r>
          </a:p>
          <a:p>
            <a:r>
              <a:rPr lang="hu-HU" sz="4000" dirty="0"/>
              <a:t>Telepítési útmutató </a:t>
            </a:r>
          </a:p>
          <a:p>
            <a:r>
              <a:rPr lang="hu-HU" sz="4000" dirty="0"/>
              <a:t>Továbbfejlesztési lehetőségek </a:t>
            </a:r>
          </a:p>
          <a:p>
            <a:r>
              <a:rPr lang="hu-HU" sz="4000" dirty="0"/>
              <a:t>Összegzés </a:t>
            </a:r>
          </a:p>
        </p:txBody>
      </p:sp>
    </p:spTree>
    <p:extLst>
      <p:ext uri="{BB962C8B-B14F-4D97-AF65-F5344CB8AC3E}">
        <p14:creationId xmlns:p14="http://schemas.microsoft.com/office/powerpoint/2010/main" val="93194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FB5102-F4B0-8F05-EC61-B495195A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981"/>
            <a:ext cx="10515600" cy="1325563"/>
          </a:xfrm>
        </p:spPr>
        <p:txBody>
          <a:bodyPr>
            <a:normAutofit/>
          </a:bodyPr>
          <a:lstStyle/>
          <a:p>
            <a:br>
              <a:rPr lang="hu-HU" dirty="0"/>
            </a:br>
            <a:r>
              <a:rPr lang="hu-HU" dirty="0"/>
              <a:t>1. Bevezetés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7682D8-C5AB-508A-BA06-9B3FF6761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/>
              <a:t>A szoftverfejlesztés napjaink egyik legdinamikusabban fejlődő területe, amely szinte minden iparágban kulcsszerepet tölt be. A digitalizáció előretörésével egyre nagyobb igény mutatkozik olyan informatikai rendszerek iránt, amelyek képesek hatékonyan kezelni adatokat, automatizálni folyamatokat, valamint támogatni a felhasználók mindennapi munkáját. </a:t>
            </a:r>
          </a:p>
          <a:p>
            <a:r>
              <a:rPr lang="hu-HU" dirty="0"/>
              <a:t>Jelen dokumentáció az </a:t>
            </a:r>
            <a:r>
              <a:rPr lang="hu-HU" b="1" dirty="0"/>
              <a:t>Oktáv Szoftverfejlesztő – tesztelő képzés vizsgaremekének </a:t>
            </a:r>
            <a:r>
              <a:rPr lang="hu-HU" dirty="0"/>
              <a:t>részeként készült. A projekt célja egy </a:t>
            </a:r>
            <a:r>
              <a:rPr lang="hu-HU" b="1" dirty="0"/>
              <a:t>webalapú alkalmazás </a:t>
            </a:r>
            <a:r>
              <a:rPr lang="hu-HU" dirty="0"/>
              <a:t>elkészítése, amely a modern webfejlesztési elveknek megfelelően, MVC architektúrára épülve valósít meg adatkezelési funkciókat. </a:t>
            </a:r>
          </a:p>
          <a:p>
            <a:r>
              <a:rPr lang="nb-NO" dirty="0"/>
              <a:t>A fejlesztés során kiemelt figyelmet kaptak: </a:t>
            </a:r>
          </a:p>
          <a:p>
            <a:r>
              <a:rPr lang="hu-HU" dirty="0"/>
              <a:t>az átlátható kódstruktúra </a:t>
            </a:r>
          </a:p>
          <a:p>
            <a:r>
              <a:rPr lang="hu-HU" dirty="0"/>
              <a:t>a karbantarthatóság </a:t>
            </a:r>
          </a:p>
          <a:p>
            <a:r>
              <a:rPr lang="hu-HU" dirty="0"/>
              <a:t>az adatbiztonság </a:t>
            </a:r>
          </a:p>
          <a:p>
            <a:r>
              <a:rPr lang="hu-HU" dirty="0"/>
              <a:t>a felhasználóbarát megjelenés </a:t>
            </a:r>
          </a:p>
          <a:p>
            <a:r>
              <a:rPr lang="hu-HU" dirty="0"/>
              <a:t>valamint a tesztelhetőség </a:t>
            </a:r>
          </a:p>
          <a:p>
            <a:endParaRPr lang="hu-HU" dirty="0"/>
          </a:p>
          <a:p>
            <a:r>
              <a:rPr lang="hu-HU" dirty="0"/>
              <a:t>Az alkalmazás </a:t>
            </a:r>
            <a:r>
              <a:rPr lang="hu-HU" dirty="0" err="1"/>
              <a:t>Laravel</a:t>
            </a:r>
            <a:r>
              <a:rPr lang="hu-HU" dirty="0"/>
              <a:t> keretrendszer segítségével készült, amely napjaink egyik legelterjedtebb PHP alapú webes </a:t>
            </a:r>
            <a:r>
              <a:rPr lang="hu-HU" dirty="0" err="1"/>
              <a:t>frameworkje</a:t>
            </a:r>
            <a:r>
              <a:rPr lang="hu-HU" dirty="0"/>
              <a:t>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7671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617DA5-1EC3-90FA-3843-F43CCB7E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2. A PROJEKT CÉLJA ÉS KÖVETELMÉNYRENDSZERE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ED25CF-B4BF-18B0-21CE-9AB46C306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2.1 A projekt célja </a:t>
            </a:r>
            <a:endParaRPr lang="hu-HU" dirty="0"/>
          </a:p>
          <a:p>
            <a:r>
              <a:rPr lang="hu-HU" dirty="0"/>
              <a:t>A projekt elsődleges célja egy olyan webalkalmazás megvalósítása volt, amely: </a:t>
            </a:r>
          </a:p>
          <a:p>
            <a:r>
              <a:rPr lang="hu-HU" dirty="0"/>
              <a:t>CRUD (</a:t>
            </a:r>
            <a:r>
              <a:rPr lang="hu-HU" dirty="0" err="1"/>
              <a:t>Create</a:t>
            </a:r>
            <a:r>
              <a:rPr lang="hu-HU" dirty="0"/>
              <a:t>, Read, Update, </a:t>
            </a:r>
            <a:r>
              <a:rPr lang="hu-HU" dirty="0" err="1"/>
              <a:t>Delete</a:t>
            </a:r>
            <a:r>
              <a:rPr lang="hu-HU" dirty="0"/>
              <a:t>) műveleteket valósít meg </a:t>
            </a:r>
          </a:p>
          <a:p>
            <a:r>
              <a:rPr lang="hu-HU" dirty="0"/>
              <a:t>adatbázissal kommunikál </a:t>
            </a:r>
          </a:p>
          <a:p>
            <a:r>
              <a:rPr lang="hu-HU" dirty="0"/>
              <a:t>strukturált MVC elrendezést használ </a:t>
            </a:r>
          </a:p>
          <a:p>
            <a:r>
              <a:rPr lang="hu-HU" dirty="0"/>
              <a:t>vizsgafeladatként teljes mértékben megfelel a képzés követelményeinek </a:t>
            </a:r>
          </a:p>
          <a:p>
            <a:endParaRPr lang="hu-HU" dirty="0"/>
          </a:p>
          <a:p>
            <a:r>
              <a:rPr lang="hu-HU" dirty="0"/>
              <a:t>A rendszer lehetőséget biztosít adatok rögzítésére, módosítására, törlésére és listázására webes felületen keresztül. </a:t>
            </a:r>
          </a:p>
          <a:p>
            <a:r>
              <a:rPr lang="hu-HU" b="1" dirty="0"/>
              <a:t>2.2 Funkcionális követelmények </a:t>
            </a:r>
            <a:endParaRPr lang="hu-HU" dirty="0"/>
          </a:p>
          <a:p>
            <a:r>
              <a:rPr lang="hu-HU" dirty="0"/>
              <a:t>Adatok kezelése adatbázisban </a:t>
            </a:r>
          </a:p>
          <a:p>
            <a:r>
              <a:rPr lang="hu-HU" dirty="0"/>
              <a:t>Webes felhasználói felület </a:t>
            </a:r>
          </a:p>
          <a:p>
            <a:r>
              <a:rPr lang="hu-HU" dirty="0"/>
              <a:t>Hibakezelés és validáció </a:t>
            </a:r>
          </a:p>
          <a:p>
            <a:r>
              <a:rPr lang="hu-HU" dirty="0"/>
              <a:t>Strukturált </a:t>
            </a:r>
            <a:r>
              <a:rPr lang="hu-HU" dirty="0" err="1"/>
              <a:t>routing</a:t>
            </a:r>
            <a:r>
              <a:rPr lang="hu-HU" dirty="0"/>
              <a:t> rendszer </a:t>
            </a:r>
          </a:p>
          <a:p>
            <a:endParaRPr lang="hu-HU" dirty="0"/>
          </a:p>
          <a:p>
            <a:r>
              <a:rPr lang="hu-HU" b="1" dirty="0"/>
              <a:t>2.3 Nem funkcionális követelmények </a:t>
            </a:r>
            <a:endParaRPr lang="hu-HU" dirty="0"/>
          </a:p>
          <a:p>
            <a:r>
              <a:rPr lang="hu-HU" dirty="0"/>
              <a:t>Áttekinthető kód </a:t>
            </a:r>
          </a:p>
          <a:p>
            <a:r>
              <a:rPr lang="hu-HU" dirty="0"/>
              <a:t>Karbantarthatóság </a:t>
            </a:r>
          </a:p>
          <a:p>
            <a:r>
              <a:rPr lang="hu-HU" dirty="0"/>
              <a:t>Reszponzív megjelenés </a:t>
            </a:r>
          </a:p>
          <a:p>
            <a:r>
              <a:rPr lang="hu-HU" dirty="0"/>
              <a:t>Biztonságos adatkezelés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7047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7077C3-E0CC-3C28-85EA-00164080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3. ALKALMAZOTT FEJLESZTÉSI MÓDSZERTAN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F78C13D-44AD-7D0D-51BB-0F0DCD4FC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b="1" dirty="0"/>
              <a:t>A fejlesztés során iteratív fejlesztési megközelítés került alkalmazásra. Ez lehetővé tette, hogy az egyes funkciók külön egységként kerüljenek megvalósításra, majd folyamatosan továbbfejlesztésre és tesztelésre. </a:t>
            </a:r>
            <a:endParaRPr lang="hu-HU" dirty="0"/>
          </a:p>
          <a:p>
            <a:r>
              <a:rPr lang="hu-HU" b="1" dirty="0"/>
              <a:t>A fejlesztési lépések: </a:t>
            </a:r>
            <a:endParaRPr lang="hu-HU" dirty="0"/>
          </a:p>
          <a:p>
            <a:r>
              <a:rPr lang="hu-HU" dirty="0"/>
              <a:t>Követelmények elemzése </a:t>
            </a:r>
          </a:p>
          <a:p>
            <a:r>
              <a:rPr lang="hu-HU" dirty="0"/>
              <a:t>Adatbázis tervezés </a:t>
            </a:r>
          </a:p>
          <a:p>
            <a:r>
              <a:rPr lang="hu-HU" dirty="0"/>
              <a:t>Backend megvalósítás </a:t>
            </a:r>
          </a:p>
          <a:p>
            <a:r>
              <a:rPr lang="hu-HU" dirty="0"/>
              <a:t>Frontend felület kialakítása </a:t>
            </a:r>
          </a:p>
          <a:p>
            <a:r>
              <a:rPr lang="hu-HU" dirty="0"/>
              <a:t>Tesztelés </a:t>
            </a:r>
          </a:p>
          <a:p>
            <a:r>
              <a:rPr lang="hu-HU" dirty="0"/>
              <a:t>Dokumentáció elkészítése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5691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609124-154F-CB6C-E01F-7FAB5395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4. FELHASZNÁLT TECHNOLÓGIÁK részletes bemutatása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333646-59A4-6E64-66E7-F5416FF7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hu-HU" b="1" dirty="0"/>
              <a:t>4.1 PHP </a:t>
            </a:r>
            <a:endParaRPr lang="hu-HU" dirty="0"/>
          </a:p>
          <a:p>
            <a:r>
              <a:rPr lang="hu-HU" dirty="0"/>
              <a:t>A PHP egy szerveroldali programozási nyelv, amelyet széles körben használnak webalkalmazások készítésére. A </a:t>
            </a:r>
            <a:r>
              <a:rPr lang="hu-HU" dirty="0" err="1"/>
              <a:t>Laravel</a:t>
            </a:r>
            <a:r>
              <a:rPr lang="hu-HU" dirty="0"/>
              <a:t> keretrendszer is PHP-</a:t>
            </a:r>
            <a:r>
              <a:rPr lang="hu-HU" dirty="0" err="1"/>
              <a:t>ra</a:t>
            </a:r>
            <a:r>
              <a:rPr lang="hu-HU" dirty="0"/>
              <a:t> épül, így a backend teljes mértékben PHP alapú. </a:t>
            </a:r>
          </a:p>
          <a:p>
            <a:r>
              <a:rPr lang="hu-HU" b="1" dirty="0"/>
              <a:t>4.2 </a:t>
            </a:r>
            <a:r>
              <a:rPr lang="hu-HU" b="1" dirty="0" err="1"/>
              <a:t>Laravel</a:t>
            </a:r>
            <a:r>
              <a:rPr lang="hu-HU" b="1" dirty="0"/>
              <a:t> keretrendszer </a:t>
            </a:r>
            <a:endParaRPr lang="hu-HU" dirty="0"/>
          </a:p>
          <a:p>
            <a:r>
              <a:rPr lang="hu-HU" dirty="0"/>
              <a:t>Részletesen: </a:t>
            </a:r>
          </a:p>
          <a:p>
            <a:r>
              <a:rPr lang="hu-HU" dirty="0"/>
              <a:t>MVC architektúra </a:t>
            </a:r>
          </a:p>
          <a:p>
            <a:r>
              <a:rPr lang="hu-HU" dirty="0" err="1"/>
              <a:t>Routing</a:t>
            </a:r>
            <a:r>
              <a:rPr lang="hu-HU" dirty="0"/>
              <a:t> </a:t>
            </a:r>
          </a:p>
          <a:p>
            <a:r>
              <a:rPr lang="hu-HU" dirty="0" err="1"/>
              <a:t>Controller</a:t>
            </a:r>
            <a:r>
              <a:rPr lang="hu-HU" dirty="0"/>
              <a:t> logika </a:t>
            </a:r>
          </a:p>
          <a:p>
            <a:r>
              <a:rPr lang="hu-HU" dirty="0" err="1"/>
              <a:t>Eloquent</a:t>
            </a:r>
            <a:r>
              <a:rPr lang="hu-HU" dirty="0"/>
              <a:t> ORM </a:t>
            </a:r>
          </a:p>
          <a:p>
            <a:r>
              <a:rPr lang="hu-HU" dirty="0"/>
              <a:t>Migrációk </a:t>
            </a:r>
          </a:p>
          <a:p>
            <a:endParaRPr lang="hu-HU" dirty="0"/>
          </a:p>
          <a:p>
            <a:r>
              <a:rPr lang="hu-HU" b="1" dirty="0"/>
              <a:t>4.3 </a:t>
            </a:r>
            <a:r>
              <a:rPr lang="hu-HU" b="1" dirty="0" err="1"/>
              <a:t>MySQL</a:t>
            </a:r>
            <a:r>
              <a:rPr lang="hu-HU" b="1" dirty="0"/>
              <a:t> adatbázis </a:t>
            </a:r>
            <a:endParaRPr lang="hu-HU" dirty="0"/>
          </a:p>
          <a:p>
            <a:r>
              <a:rPr lang="hu-HU" dirty="0"/>
              <a:t>relációs modell </a:t>
            </a:r>
          </a:p>
          <a:p>
            <a:r>
              <a:rPr lang="hu-HU" dirty="0"/>
              <a:t>táblakapcsolatok </a:t>
            </a:r>
          </a:p>
          <a:p>
            <a:r>
              <a:rPr lang="hu-HU" dirty="0"/>
              <a:t>elsődleges idegen kulcsok </a:t>
            </a:r>
          </a:p>
          <a:p>
            <a:r>
              <a:rPr lang="hu-HU" dirty="0"/>
              <a:t>adatkonzisztencia </a:t>
            </a:r>
          </a:p>
          <a:p>
            <a:endParaRPr lang="hu-HU" dirty="0"/>
          </a:p>
          <a:p>
            <a:r>
              <a:rPr lang="hu-HU" b="1" dirty="0"/>
              <a:t>4.4 </a:t>
            </a:r>
            <a:r>
              <a:rPr lang="hu-HU" b="1" dirty="0" err="1"/>
              <a:t>Blade</a:t>
            </a:r>
            <a:r>
              <a:rPr lang="hu-HU" b="1" dirty="0"/>
              <a:t> </a:t>
            </a:r>
            <a:r>
              <a:rPr lang="hu-HU" b="1" dirty="0" err="1"/>
              <a:t>Template</a:t>
            </a:r>
            <a:r>
              <a:rPr lang="hu-HU" b="1" dirty="0"/>
              <a:t> </a:t>
            </a:r>
            <a:r>
              <a:rPr lang="hu-HU" b="1" dirty="0" err="1"/>
              <a:t>Engine</a:t>
            </a:r>
            <a:r>
              <a:rPr lang="hu-HU" b="1" dirty="0"/>
              <a:t> </a:t>
            </a:r>
            <a:endParaRPr lang="hu-HU" dirty="0"/>
          </a:p>
          <a:p>
            <a:r>
              <a:rPr lang="hu-HU" dirty="0" err="1"/>
              <a:t>layoutok</a:t>
            </a:r>
            <a:r>
              <a:rPr lang="hu-HU" dirty="0"/>
              <a:t> </a:t>
            </a:r>
          </a:p>
          <a:p>
            <a:r>
              <a:rPr lang="hu-HU" dirty="0"/>
              <a:t>komponensek </a:t>
            </a:r>
          </a:p>
          <a:p>
            <a:r>
              <a:rPr lang="hu-HU" dirty="0"/>
              <a:t>dinamikus adatmegjelenítés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4739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7BDCE4-994C-29EA-6A24-EA98C3B8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5. FELHASZNÁLT TECHNOLÓGIÁK – RÉSZLETES ISMERTETÉS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F86559-65C0-CE69-A7FC-64CF719CE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5.1 PHP – Szerveroldali programozási nyelv </a:t>
            </a:r>
            <a:endParaRPr lang="hu-HU" dirty="0"/>
          </a:p>
          <a:p>
            <a:r>
              <a:rPr lang="hu-HU" dirty="0"/>
              <a:t>A PHP (</a:t>
            </a:r>
            <a:r>
              <a:rPr lang="hu-HU" dirty="0" err="1"/>
              <a:t>Hypertext</a:t>
            </a:r>
            <a:r>
              <a:rPr lang="hu-HU" dirty="0"/>
              <a:t> </a:t>
            </a:r>
            <a:r>
              <a:rPr lang="hu-HU" dirty="0" err="1"/>
              <a:t>Preprocessor</a:t>
            </a:r>
            <a:r>
              <a:rPr lang="hu-HU" dirty="0"/>
              <a:t>) egy széles körben elterjedt, nyílt forráskódú szerveroldali programozási nyelv, amelyet kifejezetten webes alkalmazások fejlesztésére terveztek. A PHP kód a szerveren fut le, és a futás eredményeként generált HTML kerül visszaküldésre a kliens számára. </a:t>
            </a:r>
          </a:p>
          <a:p>
            <a:r>
              <a:rPr lang="hu-HU" dirty="0"/>
              <a:t>A projekt backend része teljes egészében PHP nyelven készült. A PHP előnyei közé tartozik: </a:t>
            </a:r>
          </a:p>
          <a:p>
            <a:r>
              <a:rPr lang="hu-HU" dirty="0"/>
              <a:t>egyszerű szintaxis </a:t>
            </a:r>
          </a:p>
          <a:p>
            <a:r>
              <a:rPr lang="hu-HU" dirty="0"/>
              <a:t>széles körű dokumentáció </a:t>
            </a:r>
          </a:p>
          <a:p>
            <a:r>
              <a:rPr lang="hu-HU" dirty="0"/>
              <a:t>nagy közösségi támogatás </a:t>
            </a:r>
          </a:p>
          <a:p>
            <a:r>
              <a:rPr lang="hu-HU" dirty="0"/>
              <a:t>könnyű integráció adatbázisokkal </a:t>
            </a:r>
          </a:p>
          <a:p>
            <a:endParaRPr lang="hu-HU" dirty="0"/>
          </a:p>
          <a:p>
            <a:r>
              <a:rPr lang="hu-HU" dirty="0"/>
              <a:t>A nyelv különösen alkalmas kisebb és közepes méretű adatkezelő rendszerekhez, mint amilyen jelen vizsgaprojekt is. </a:t>
            </a:r>
          </a:p>
          <a:p>
            <a:r>
              <a:rPr lang="hu-HU" b="1" dirty="0"/>
              <a:t>5.2 </a:t>
            </a:r>
            <a:r>
              <a:rPr lang="hu-HU" b="1" dirty="0" err="1"/>
              <a:t>Laravel</a:t>
            </a:r>
            <a:r>
              <a:rPr lang="hu-HU" b="1" dirty="0"/>
              <a:t> keretrendszer 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Laravel</a:t>
            </a:r>
            <a:r>
              <a:rPr lang="hu-HU" dirty="0"/>
              <a:t> egy modern PHP keretrendszer, amely az MVC (</a:t>
            </a:r>
            <a:r>
              <a:rPr lang="hu-HU" dirty="0" err="1"/>
              <a:t>Model</a:t>
            </a:r>
            <a:r>
              <a:rPr lang="hu-HU" dirty="0"/>
              <a:t>–</a:t>
            </a:r>
            <a:r>
              <a:rPr lang="hu-HU" dirty="0" err="1"/>
              <a:t>View</a:t>
            </a:r>
            <a:r>
              <a:rPr lang="hu-HU" dirty="0"/>
              <a:t>–</a:t>
            </a:r>
            <a:r>
              <a:rPr lang="hu-HU" dirty="0" err="1"/>
              <a:t>Controller</a:t>
            </a:r>
            <a:r>
              <a:rPr lang="hu-HU" dirty="0"/>
              <a:t>) tervezési mintát követi. A keretrendszer célja, hogy leegyszerűsítse a webalkalmazások fejlesztését, miközben strukturált és karbantartható kódbázist biztosít. </a:t>
            </a:r>
          </a:p>
          <a:p>
            <a:r>
              <a:rPr lang="pl-PL" b="1" dirty="0"/>
              <a:t>Az MVC szerepe a projektben </a:t>
            </a:r>
            <a:endParaRPr lang="pl-PL" dirty="0"/>
          </a:p>
          <a:p>
            <a:r>
              <a:rPr lang="hu-HU" b="1" dirty="0" err="1"/>
              <a:t>Model</a:t>
            </a:r>
            <a:r>
              <a:rPr lang="hu-HU" dirty="0"/>
              <a:t>: az adatbázissal való kommunikációért felel </a:t>
            </a:r>
          </a:p>
          <a:p>
            <a:r>
              <a:rPr lang="hu-HU" b="1" dirty="0" err="1"/>
              <a:t>View</a:t>
            </a:r>
            <a:r>
              <a:rPr lang="hu-HU" dirty="0"/>
              <a:t>: a felhasználói felület megjelenítését végzi </a:t>
            </a:r>
          </a:p>
          <a:p>
            <a:r>
              <a:rPr lang="hu-HU" b="1" dirty="0" err="1"/>
              <a:t>Controller</a:t>
            </a:r>
            <a:r>
              <a:rPr lang="hu-HU" dirty="0"/>
              <a:t>: az üzleti logikát irányítja </a:t>
            </a:r>
          </a:p>
          <a:p>
            <a:endParaRPr lang="hu-HU" dirty="0"/>
          </a:p>
          <a:p>
            <a:r>
              <a:rPr lang="hu-HU" dirty="0"/>
              <a:t>Ez az elkülönítés különösen fontos a tesztelhetőség és az átláthatóság szempontjából, ami az Oktáv képzésen elvárt szakmai szinthez illeszkedik. </a:t>
            </a:r>
          </a:p>
        </p:txBody>
      </p:sp>
    </p:spTree>
    <p:extLst>
      <p:ext uri="{BB962C8B-B14F-4D97-AF65-F5344CB8AC3E}">
        <p14:creationId xmlns:p14="http://schemas.microsoft.com/office/powerpoint/2010/main" val="107575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B76448-7D47-7ACF-888D-0ABFE2B3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6. BACKEND MEGVALÓSÍTÁS (LARAVEL)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F1049E-D04C-3188-2E57-557C71342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/>
              <a:t>A backend megvalósítása során a </a:t>
            </a:r>
            <a:r>
              <a:rPr lang="hu-HU" dirty="0" err="1"/>
              <a:t>Laravel</a:t>
            </a:r>
            <a:r>
              <a:rPr lang="hu-HU" dirty="0"/>
              <a:t> keretrendszer alapértelmezett struktúrája került alkalmazásra. A rendszer logikai működéséért a </a:t>
            </a:r>
            <a:r>
              <a:rPr lang="hu-HU" dirty="0" err="1"/>
              <a:t>Controller</a:t>
            </a:r>
            <a:r>
              <a:rPr lang="hu-HU" dirty="0"/>
              <a:t> réteg felel. </a:t>
            </a:r>
          </a:p>
          <a:p>
            <a:r>
              <a:rPr lang="hu-HU" b="1" dirty="0"/>
              <a:t>6.1 </a:t>
            </a:r>
            <a:r>
              <a:rPr lang="hu-HU" b="1" dirty="0" err="1"/>
              <a:t>Routing</a:t>
            </a:r>
            <a:r>
              <a:rPr lang="hu-HU" b="1" dirty="0"/>
              <a:t> 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routing</a:t>
            </a:r>
            <a:r>
              <a:rPr lang="hu-HU" dirty="0"/>
              <a:t> rendszer határozza meg, hogy egy adott HTTP kérés mely kontrollerhez kerüljön. A projektben a </a:t>
            </a:r>
            <a:r>
              <a:rPr lang="hu-HU" dirty="0" err="1"/>
              <a:t>Laravel</a:t>
            </a:r>
            <a:r>
              <a:rPr lang="hu-HU" dirty="0"/>
              <a:t> </a:t>
            </a:r>
            <a:r>
              <a:rPr lang="hu-HU" dirty="0" err="1"/>
              <a:t>routes</a:t>
            </a:r>
            <a:r>
              <a:rPr lang="hu-HU" dirty="0"/>
              <a:t>/</a:t>
            </a:r>
            <a:r>
              <a:rPr lang="hu-HU" dirty="0" err="1"/>
              <a:t>web.php</a:t>
            </a:r>
            <a:r>
              <a:rPr lang="hu-HU" dirty="0"/>
              <a:t> fájl tartalmazza az útvonalakat. </a:t>
            </a:r>
          </a:p>
          <a:p>
            <a:r>
              <a:rPr lang="hu-HU" b="1" dirty="0"/>
              <a:t>6.2 </a:t>
            </a:r>
            <a:r>
              <a:rPr lang="hu-HU" b="1" dirty="0" err="1"/>
              <a:t>Controller</a:t>
            </a:r>
            <a:r>
              <a:rPr lang="hu-HU" b="1" dirty="0"/>
              <a:t>-ek szerepe </a:t>
            </a:r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controller</a:t>
            </a:r>
            <a:r>
              <a:rPr lang="hu-HU" dirty="0"/>
              <a:t>-ek: </a:t>
            </a:r>
          </a:p>
          <a:p>
            <a:r>
              <a:rPr lang="hu-HU" dirty="0"/>
              <a:t>fogadják a felhasználói kéréseket </a:t>
            </a:r>
          </a:p>
          <a:p>
            <a:r>
              <a:rPr lang="hu-HU" dirty="0"/>
              <a:t>feldolgozzák az adatokat </a:t>
            </a:r>
          </a:p>
          <a:p>
            <a:r>
              <a:rPr lang="hu-HU" dirty="0"/>
              <a:t>meghívják a megfelelő modelleket </a:t>
            </a:r>
          </a:p>
          <a:p>
            <a:r>
              <a:rPr lang="hu-HU" dirty="0"/>
              <a:t>visszaküldik a nézeteket </a:t>
            </a:r>
          </a:p>
          <a:p>
            <a:endParaRPr lang="hu-HU" dirty="0"/>
          </a:p>
          <a:p>
            <a:r>
              <a:rPr lang="hu-HU" b="1" dirty="0"/>
              <a:t>6.3 </a:t>
            </a:r>
            <a:r>
              <a:rPr lang="hu-HU" b="1" dirty="0" err="1"/>
              <a:t>Eloquent</a:t>
            </a:r>
            <a:r>
              <a:rPr lang="hu-HU" b="1" dirty="0"/>
              <a:t> ORM </a:t>
            </a:r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Eloquent</a:t>
            </a:r>
            <a:r>
              <a:rPr lang="hu-HU" dirty="0"/>
              <a:t> ORM lehetővé teszi az adatbázis-műveletek objektumorientált megvalósítását. Ez nagymértékben csökkenti a hibalehetőségeket és javítja az olvashatóságot.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6079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5D8D30-DEE3-F959-DB37-5282E0C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7. Frontend megvalósítás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BA6E1A-755D-2735-FF40-D8697376A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b="1" dirty="0"/>
              <a:t>7.1 A frontend szerepe az alkalmazásban </a:t>
            </a:r>
            <a:endParaRPr lang="hu-HU" dirty="0"/>
          </a:p>
          <a:p>
            <a:r>
              <a:rPr lang="hu-HU" dirty="0"/>
              <a:t>A frontend az alkalmazás azon része, amellyel a felhasználó közvetlenül kapcsolatba lép. Feladata, hogy az adatkezelési funkciókat átlátható, könnyen használható és esztétikus formában jelenítse meg. A frontend megfelelő kialakítása nagymértékben hozzájárul a felhasználói élményhez és a rendszer hatékony használatához. </a:t>
            </a:r>
          </a:p>
          <a:p>
            <a:r>
              <a:rPr lang="hu-HU" dirty="0"/>
              <a:t>Jelen projekt esetében kiemelt szempont volt: </a:t>
            </a:r>
          </a:p>
          <a:p>
            <a:r>
              <a:rPr lang="hu-HU" dirty="0"/>
              <a:t>az egyszerű, letisztult megjelenés </a:t>
            </a:r>
          </a:p>
          <a:p>
            <a:r>
              <a:rPr lang="hu-HU" dirty="0"/>
              <a:t>az egyértelmű navigáció </a:t>
            </a:r>
          </a:p>
          <a:p>
            <a:r>
              <a:rPr lang="hu-HU" dirty="0"/>
              <a:t>az adatbeviteli hibák minimalizálása </a:t>
            </a:r>
          </a:p>
          <a:p>
            <a:r>
              <a:rPr lang="hu-HU" dirty="0"/>
              <a:t>a reszponzív megjelenés biztosítása </a:t>
            </a:r>
          </a:p>
          <a:p>
            <a:endParaRPr lang="hu-HU" dirty="0"/>
          </a:p>
          <a:p>
            <a:r>
              <a:rPr lang="hu-HU" dirty="0"/>
              <a:t>A frontend kialakítása során a cél nem egy bonyolult grafikai megoldás volt, hanem egy </a:t>
            </a:r>
            <a:r>
              <a:rPr lang="hu-HU" b="1" dirty="0"/>
              <a:t>vizsgára optimalizált, funkcionális felület </a:t>
            </a:r>
            <a:r>
              <a:rPr lang="hu-HU" dirty="0"/>
              <a:t>kialakítása.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9646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BCC87A-662C-C60D-14C9-109518F2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9. ADATBÁZIS TERVEZÉS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4A6ADE-1EB4-C1AF-898F-BE00A7886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Az adatbázis tervezése során fontos szempont volt az egyszerűség és az átláthatóság. A táblák migrációk segítségével jöttek létre, amely biztosítja: </a:t>
            </a:r>
          </a:p>
          <a:p>
            <a:r>
              <a:rPr lang="hu-HU" dirty="0"/>
              <a:t>az adatbázis </a:t>
            </a:r>
            <a:r>
              <a:rPr lang="hu-HU" dirty="0" err="1"/>
              <a:t>verziózhatóságát</a:t>
            </a:r>
            <a:r>
              <a:rPr lang="hu-HU" dirty="0"/>
              <a:t> </a:t>
            </a:r>
          </a:p>
          <a:p>
            <a:r>
              <a:rPr lang="hu-HU" dirty="0"/>
              <a:t>az </a:t>
            </a:r>
            <a:r>
              <a:rPr lang="hu-HU" dirty="0" err="1"/>
              <a:t>újratelepíthetőséget</a:t>
            </a:r>
            <a:r>
              <a:rPr lang="hu-HU" dirty="0"/>
              <a:t> </a:t>
            </a:r>
          </a:p>
          <a:p>
            <a:r>
              <a:rPr lang="hu-HU" dirty="0"/>
              <a:t>a hibamentes struktúrát </a:t>
            </a:r>
          </a:p>
          <a:p>
            <a:endParaRPr lang="hu-HU" dirty="0"/>
          </a:p>
          <a:p>
            <a:r>
              <a:rPr lang="hu-HU" b="1" dirty="0"/>
              <a:t>9.1 Táblák és kapcsolatok </a:t>
            </a:r>
            <a:endParaRPr lang="hu-HU" dirty="0"/>
          </a:p>
          <a:p>
            <a:r>
              <a:rPr lang="hu-HU" dirty="0" err="1"/>
              <a:t>egyedek</a:t>
            </a:r>
            <a:r>
              <a:rPr lang="hu-HU" dirty="0"/>
              <a:t> egyértelmű azonosítása </a:t>
            </a:r>
          </a:p>
          <a:p>
            <a:r>
              <a:rPr lang="hu-HU" dirty="0"/>
              <a:t>elsődleges kulcsok használata </a:t>
            </a:r>
          </a:p>
          <a:p>
            <a:r>
              <a:rPr lang="hu-HU" dirty="0"/>
              <a:t>relációk kialakítása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3844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0DE60A-E0BA-EAD5-4E96-51EF3405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8. Adatbázis-tervezés és megvalósítás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A3485E-20A1-6827-57ED-B329E2204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dirty="0"/>
              <a:t>8.1 Az adatbázis szerepe az alkalmazásban </a:t>
            </a:r>
            <a:endParaRPr lang="hu-HU" dirty="0"/>
          </a:p>
          <a:p>
            <a:r>
              <a:rPr lang="hu-HU" dirty="0"/>
              <a:t>Az adatbázis az alkalmazás egyik legfontosabb része, mivel biztosítja az adatok tartós tárolását és visszakereshetőségét. A webalkalmazás működésének alapját az adatbázisban tárolt adatok képezik, amelyekhez a felhasználó a frontend felületen keresztül fér hozzá. </a:t>
            </a:r>
          </a:p>
          <a:p>
            <a:r>
              <a:rPr lang="hu-HU" dirty="0"/>
              <a:t>Jelen projekt esetében az adatbázis feladata: </a:t>
            </a:r>
          </a:p>
          <a:p>
            <a:r>
              <a:rPr lang="hu-HU" dirty="0"/>
              <a:t>a rögzített adatok tárolása </a:t>
            </a:r>
          </a:p>
          <a:p>
            <a:r>
              <a:rPr lang="hu-HU" dirty="0"/>
              <a:t>az adatok módosításának és törlésének kezelése </a:t>
            </a:r>
          </a:p>
          <a:p>
            <a:r>
              <a:rPr lang="hu-HU" dirty="0"/>
              <a:t>az adatok strukturált és biztonságos kezelése </a:t>
            </a:r>
          </a:p>
          <a:p>
            <a:r>
              <a:rPr lang="hu-HU" dirty="0"/>
              <a:t>a backend és frontend közötti adatkapcsolat biztosítása </a:t>
            </a:r>
          </a:p>
          <a:p>
            <a:endParaRPr lang="hu-HU" dirty="0"/>
          </a:p>
          <a:p>
            <a:r>
              <a:rPr lang="hu-HU" dirty="0"/>
              <a:t>Az adatbázis tervezése során kiemelt figyelmet kapott az egyszerűség, az átláthatóság és a bővíthetőség.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22088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1C0980-D1EF-45BC-D347-48D5F0177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9. ADATBÁZIS TERVEZÉS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43886F-4587-49CA-D44B-5715EC3BA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Az adatbázis tervezése során fontos szempont volt az egyszerűség és az átláthatóság. A táblák migrációk segítségével jöttek létre, amely biztosítja: </a:t>
            </a:r>
          </a:p>
          <a:p>
            <a:r>
              <a:rPr lang="hu-HU" dirty="0"/>
              <a:t>az adatbázis </a:t>
            </a:r>
            <a:r>
              <a:rPr lang="hu-HU" dirty="0" err="1"/>
              <a:t>verziózhatóságát</a:t>
            </a:r>
            <a:r>
              <a:rPr lang="hu-HU" dirty="0"/>
              <a:t> </a:t>
            </a:r>
          </a:p>
          <a:p>
            <a:r>
              <a:rPr lang="hu-HU" dirty="0"/>
              <a:t>az </a:t>
            </a:r>
            <a:r>
              <a:rPr lang="hu-HU" dirty="0" err="1"/>
              <a:t>újratelepíthetőséget</a:t>
            </a:r>
            <a:r>
              <a:rPr lang="hu-HU" dirty="0"/>
              <a:t> </a:t>
            </a:r>
          </a:p>
          <a:p>
            <a:r>
              <a:rPr lang="hu-HU" dirty="0"/>
              <a:t>a hibamentes struktúrát </a:t>
            </a:r>
          </a:p>
          <a:p>
            <a:endParaRPr lang="hu-HU" dirty="0"/>
          </a:p>
          <a:p>
            <a:r>
              <a:rPr lang="hu-HU" b="1" dirty="0"/>
              <a:t>9.1 Táblák és kapcsolatok </a:t>
            </a:r>
            <a:endParaRPr lang="hu-HU" dirty="0"/>
          </a:p>
          <a:p>
            <a:r>
              <a:rPr lang="hu-HU" dirty="0" err="1"/>
              <a:t>egyedek</a:t>
            </a:r>
            <a:r>
              <a:rPr lang="hu-HU" dirty="0"/>
              <a:t> egyértelmű azonosítása </a:t>
            </a:r>
          </a:p>
          <a:p>
            <a:r>
              <a:rPr lang="hu-HU" dirty="0"/>
              <a:t>elsődleges kulcsok használata </a:t>
            </a:r>
          </a:p>
          <a:p>
            <a:r>
              <a:rPr lang="hu-HU" dirty="0"/>
              <a:t>relációk kialakítása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9264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DF8EC1-26EB-3454-5E6D-AEB1F6EF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10. Felhasználói dokumentáció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E7316D-DE98-B4A5-D7F8-3000EE6E5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BR" b="1" dirty="0"/>
              <a:t>10.1 A felhasználói dokumentáció célja </a:t>
            </a:r>
            <a:endParaRPr lang="pt-BR" dirty="0"/>
          </a:p>
          <a:p>
            <a:r>
              <a:rPr lang="hu-HU" dirty="0"/>
              <a:t>A felhasználói dokumentáció célja, hogy részletes és közérthető útmutatást nyújtson az alkalmazás használatához. Ez a fejezet nem fejlesztőknek, hanem </a:t>
            </a:r>
            <a:r>
              <a:rPr lang="hu-HU" b="1" dirty="0"/>
              <a:t>végfelhasználóknak </a:t>
            </a:r>
            <a:r>
              <a:rPr lang="hu-HU" dirty="0"/>
              <a:t>készült, ezért a szakmai megfogalmazás helyett az egyszerű, érthető leírás került előtérbe. </a:t>
            </a:r>
          </a:p>
          <a:p>
            <a:r>
              <a:rPr lang="pt-BR" dirty="0"/>
              <a:t>A dokumentáció segítségével a felhasználó: </a:t>
            </a:r>
          </a:p>
          <a:p>
            <a:r>
              <a:rPr lang="hu-HU" dirty="0"/>
              <a:t>megismeri az alkalmazás célját </a:t>
            </a:r>
          </a:p>
          <a:p>
            <a:r>
              <a:rPr lang="hu-HU" dirty="0"/>
              <a:t>átlátja a fő funkciókat </a:t>
            </a:r>
          </a:p>
          <a:p>
            <a:r>
              <a:rPr lang="hu-HU" dirty="0"/>
              <a:t>képes önállóan használni a rendszert </a:t>
            </a:r>
          </a:p>
          <a:p>
            <a:endParaRPr lang="hu-HU" dirty="0"/>
          </a:p>
          <a:p>
            <a:r>
              <a:rPr lang="hu-HU" dirty="0"/>
              <a:t>Ez a megközelítés különösen fontos olyan rendszerek esetében, ahol a felhasználók informatikai ismeretei eltérőek lehetnek. </a:t>
            </a:r>
          </a:p>
          <a:p>
            <a:r>
              <a:rPr lang="hu-HU" b="1" dirty="0"/>
              <a:t>10.2 Az alkalmazás elérése </a:t>
            </a:r>
            <a:endParaRPr lang="hu-HU" dirty="0"/>
          </a:p>
          <a:p>
            <a:r>
              <a:rPr lang="hu-HU" dirty="0"/>
              <a:t>Az alkalmazás webalapú, vagyis </a:t>
            </a:r>
            <a:r>
              <a:rPr lang="hu-HU" b="1" dirty="0"/>
              <a:t>telepítést nem igényel</a:t>
            </a:r>
            <a:r>
              <a:rPr lang="hu-HU" dirty="0"/>
              <a:t>, kizárólag internetkapcsolatra és egy modern webböngészőre van szükség. </a:t>
            </a:r>
          </a:p>
          <a:p>
            <a:r>
              <a:rPr lang="hu-HU" dirty="0"/>
              <a:t>Ajánlott böngészők: </a:t>
            </a:r>
          </a:p>
          <a:p>
            <a:r>
              <a:rPr lang="hu-HU" dirty="0"/>
              <a:t>Google Chrome </a:t>
            </a:r>
          </a:p>
          <a:p>
            <a:r>
              <a:rPr lang="hu-HU" dirty="0"/>
              <a:t>Mozilla Firefox </a:t>
            </a:r>
          </a:p>
          <a:p>
            <a:r>
              <a:rPr lang="hu-HU" dirty="0"/>
              <a:t>Microsoft Edge </a:t>
            </a:r>
          </a:p>
          <a:p>
            <a:endParaRPr lang="hu-HU" dirty="0"/>
          </a:p>
          <a:p>
            <a:r>
              <a:rPr lang="hu-HU" dirty="0"/>
              <a:t>Az alkalmazás indításához a felhasználónak meg kell nyitnia a megadott webcímet, amely után automatikusan a főoldal jelenik meg.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24495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E35264-AFB0-5FA9-7C06-C16B8FED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11. Hibakezelés és validáció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949FCD-2404-18B1-4082-DB0FC405F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11.1 A hibakezelés szerepe az alkalmazásban </a:t>
            </a:r>
            <a:endParaRPr lang="hu-HU" dirty="0"/>
          </a:p>
          <a:p>
            <a:r>
              <a:rPr lang="hu-HU" dirty="0"/>
              <a:t>A hibakezelés és validáció egy webalkalmazás egyik legfontosabb minőségi eleme. Feladata, hogy megakadályozza a hibás adatok feldolgozását, valamint megfelelő visszajelzést biztosítson a felhasználó számára. </a:t>
            </a:r>
          </a:p>
          <a:p>
            <a:r>
              <a:rPr lang="hu-HU" dirty="0"/>
              <a:t>A hibakezelés célja: </a:t>
            </a:r>
          </a:p>
          <a:p>
            <a:r>
              <a:rPr lang="hu-HU" dirty="0"/>
              <a:t>az adatbázis védelme a hibás vagy hiányos adatoktól </a:t>
            </a:r>
          </a:p>
          <a:p>
            <a:r>
              <a:rPr lang="hu-HU" dirty="0"/>
              <a:t>a felhasználó tájékoztatása a hibás műveletekről </a:t>
            </a:r>
          </a:p>
          <a:p>
            <a:r>
              <a:rPr lang="hu-HU" dirty="0"/>
              <a:t>a rendszer stabil működésének fenntartása </a:t>
            </a:r>
          </a:p>
          <a:p>
            <a:r>
              <a:rPr lang="hu-HU" dirty="0"/>
              <a:t>a felhasználói élmény javítása </a:t>
            </a:r>
          </a:p>
          <a:p>
            <a:endParaRPr lang="hu-HU" dirty="0"/>
          </a:p>
          <a:p>
            <a:r>
              <a:rPr lang="hu-HU" dirty="0"/>
              <a:t>A projekt során külön figyelmet kapott az, hogy a rendszer ne csak helyesen </a:t>
            </a:r>
            <a:r>
              <a:rPr lang="hu-HU" dirty="0" err="1"/>
              <a:t>működjön</a:t>
            </a:r>
            <a:r>
              <a:rPr lang="hu-HU" dirty="0"/>
              <a:t>, hanem </a:t>
            </a:r>
            <a:r>
              <a:rPr lang="hu-HU" b="1" dirty="0"/>
              <a:t>hibás használat esetén is kiszámítható és érthető legyen</a:t>
            </a:r>
            <a:r>
              <a:rPr lang="hu-HU" dirty="0"/>
              <a:t>. </a:t>
            </a:r>
          </a:p>
          <a:p>
            <a:r>
              <a:rPr lang="hu-HU" b="1" dirty="0"/>
              <a:t>11.2 Validáció fogalma és jelentősége </a:t>
            </a:r>
            <a:endParaRPr lang="hu-HU" dirty="0"/>
          </a:p>
          <a:p>
            <a:r>
              <a:rPr lang="hu-HU" dirty="0"/>
              <a:t>A validáció azon folyamatokat jelenti, amelyek ellenőrzik, hogy a felhasználó által megadott adatok megfelelnek-e a rendszer elvárásainak. Validáció nélkül a rendszer sérülékeny lenne, és az adatok minősége hosszú távon romlana. </a:t>
            </a:r>
          </a:p>
          <a:p>
            <a:r>
              <a:rPr lang="hu-HU" dirty="0"/>
              <a:t>A validáció jelentősége: </a:t>
            </a:r>
          </a:p>
          <a:p>
            <a:r>
              <a:rPr lang="hu-HU" dirty="0"/>
              <a:t>hibás adatbevitel megelőzése </a:t>
            </a:r>
          </a:p>
          <a:p>
            <a:r>
              <a:rPr lang="hu-HU" dirty="0"/>
              <a:t>adatintegritás fenntartása </a:t>
            </a:r>
          </a:p>
          <a:p>
            <a:r>
              <a:rPr lang="hu-HU" dirty="0"/>
              <a:t>backend terhelés csökkentése </a:t>
            </a:r>
          </a:p>
          <a:p>
            <a:r>
              <a:rPr lang="hu-HU" dirty="0"/>
              <a:t>tesztelhetőség biztosítása </a:t>
            </a:r>
          </a:p>
          <a:p>
            <a:endParaRPr lang="hu-HU" dirty="0"/>
          </a:p>
          <a:p>
            <a:r>
              <a:rPr lang="hu-HU" dirty="0"/>
              <a:t>A validáció megvalósítása során a felhasználó minden esetben visszajelzést kap a hibák típusáról.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99983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8DF494-6F60-5749-599C-B5F84636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12. TESZTELÉSI DOKUMENTÁCIÓ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C956DF-C1BB-0D7C-DFC7-A77734B8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hu-HU" b="1" dirty="0"/>
              <a:t>12.1 Tesztelési stratégia </a:t>
            </a:r>
            <a:endParaRPr lang="hu-HU" dirty="0"/>
          </a:p>
          <a:p>
            <a:r>
              <a:rPr lang="hu-HU" dirty="0"/>
              <a:t>A tesztelés manuálisan történt, a funkcionális követelmények alapján. </a:t>
            </a:r>
          </a:p>
          <a:p>
            <a:r>
              <a:rPr lang="hu-HU" dirty="0"/>
              <a:t>Tesztelt funkciók: </a:t>
            </a:r>
          </a:p>
          <a:p>
            <a:r>
              <a:rPr lang="hu-HU" dirty="0"/>
              <a:t>adatfelvitel </a:t>
            </a:r>
          </a:p>
          <a:p>
            <a:r>
              <a:rPr lang="hu-HU" dirty="0"/>
              <a:t>adat módosítás </a:t>
            </a:r>
          </a:p>
          <a:p>
            <a:r>
              <a:rPr lang="hu-HU" dirty="0"/>
              <a:t>adat törlés </a:t>
            </a:r>
          </a:p>
          <a:p>
            <a:r>
              <a:rPr lang="hu-HU" dirty="0"/>
              <a:t>hibás adatbevitel kezelése </a:t>
            </a:r>
          </a:p>
          <a:p>
            <a:r>
              <a:rPr lang="hu-HU" dirty="0"/>
              <a:t>validációs üzenetek megjelenése </a:t>
            </a:r>
          </a:p>
          <a:p>
            <a:endParaRPr lang="hu-HU" dirty="0"/>
          </a:p>
          <a:p>
            <a:r>
              <a:rPr lang="hu-HU" b="1" dirty="0"/>
              <a:t>12.2 Tesztesetek (példa) </a:t>
            </a:r>
            <a:endParaRPr lang="hu-HU" dirty="0"/>
          </a:p>
          <a:p>
            <a:r>
              <a:rPr lang="hu-HU" b="1" dirty="0"/>
              <a:t>Teszteset 1 </a:t>
            </a:r>
            <a:endParaRPr lang="hu-HU" dirty="0"/>
          </a:p>
          <a:p>
            <a:r>
              <a:rPr lang="hu-HU" dirty="0"/>
              <a:t>Bemenet: üres mezők </a:t>
            </a:r>
          </a:p>
          <a:p>
            <a:r>
              <a:rPr lang="hu-HU" dirty="0"/>
              <a:t>Elvárt eredmény: hibaüzenet </a:t>
            </a:r>
          </a:p>
          <a:p>
            <a:r>
              <a:rPr lang="hu-HU" dirty="0"/>
              <a:t>Eredmény: megfelelően működik </a:t>
            </a:r>
          </a:p>
          <a:p>
            <a:endParaRPr lang="hu-HU" dirty="0"/>
          </a:p>
          <a:p>
            <a:r>
              <a:rPr lang="hu-HU" b="1" dirty="0"/>
              <a:t>Teszteset 2 </a:t>
            </a:r>
            <a:endParaRPr lang="hu-HU" dirty="0"/>
          </a:p>
          <a:p>
            <a:r>
              <a:rPr lang="hu-HU" dirty="0"/>
              <a:t>Bemenet: helyes adatok </a:t>
            </a:r>
          </a:p>
          <a:p>
            <a:r>
              <a:rPr lang="hu-HU" dirty="0"/>
              <a:t>Elvárt eredmény: adat mentése </a:t>
            </a:r>
          </a:p>
          <a:p>
            <a:r>
              <a:rPr lang="hu-HU" dirty="0"/>
              <a:t>Eredmény: sikeres 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63630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140FB1-35FB-952B-A6E6-5837C142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13. Verziókezelés és munkafolyamat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7EE203-1770-FB5B-8622-C48DEF3FF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s-ES" b="1" dirty="0"/>
              <a:t>13.1 A </a:t>
            </a:r>
            <a:r>
              <a:rPr lang="es-ES" b="1" dirty="0" err="1"/>
              <a:t>verziókezelés</a:t>
            </a:r>
            <a:r>
              <a:rPr lang="es-ES" b="1" dirty="0"/>
              <a:t> </a:t>
            </a:r>
            <a:r>
              <a:rPr lang="es-ES" b="1" dirty="0" err="1"/>
              <a:t>szerepe</a:t>
            </a:r>
            <a:r>
              <a:rPr lang="es-ES" b="1" dirty="0"/>
              <a:t> a </a:t>
            </a:r>
            <a:r>
              <a:rPr lang="es-ES" b="1" dirty="0" err="1"/>
              <a:t>szoftverfejlesztésben</a:t>
            </a:r>
            <a:r>
              <a:rPr lang="es-ES" b="1" dirty="0"/>
              <a:t> </a:t>
            </a:r>
            <a:endParaRPr lang="es-ES" dirty="0"/>
          </a:p>
          <a:p>
            <a:r>
              <a:rPr lang="hu-HU" dirty="0"/>
              <a:t>A verziókezelés a modern szoftverfejlesztés egyik alapvető eleme, amely lehetővé teszi a fejlesztési folyamat nyomon követését, a változások visszakereshetőségét, valamint az együttműködést több fejlesztő között is. </a:t>
            </a:r>
          </a:p>
          <a:p>
            <a:r>
              <a:rPr lang="hu-HU" dirty="0"/>
              <a:t>A verziókezelés fő céljai: </a:t>
            </a:r>
          </a:p>
          <a:p>
            <a:r>
              <a:rPr lang="hu-HU" dirty="0"/>
              <a:t>a forráskód változásainak dokumentálása </a:t>
            </a:r>
          </a:p>
          <a:p>
            <a:r>
              <a:rPr lang="hu-HU" dirty="0"/>
              <a:t>a hibás módosítások </a:t>
            </a:r>
            <a:r>
              <a:rPr lang="hu-HU" dirty="0" err="1"/>
              <a:t>visszavonhatósága</a:t>
            </a:r>
            <a:r>
              <a:rPr lang="hu-HU" dirty="0"/>
              <a:t> </a:t>
            </a:r>
          </a:p>
          <a:p>
            <a:r>
              <a:rPr lang="hu-HU" dirty="0"/>
              <a:t>a fejlesztési folyamat átláthatósága </a:t>
            </a:r>
          </a:p>
          <a:p>
            <a:r>
              <a:rPr lang="hu-HU" dirty="0"/>
              <a:t>a tesztelés támogatása </a:t>
            </a:r>
          </a:p>
          <a:p>
            <a:endParaRPr lang="hu-HU" dirty="0"/>
          </a:p>
          <a:p>
            <a:r>
              <a:rPr lang="hu-HU" dirty="0"/>
              <a:t>A projekt során alkalmazott verziókezelés biztosította, hogy a fejlesztés strukturált, ellenőrizhető és visszakövethető módon történjen. </a:t>
            </a:r>
          </a:p>
          <a:p>
            <a:r>
              <a:rPr lang="hu-HU" b="1" dirty="0"/>
              <a:t>13.2 Alkalmazott verziókezelő rendszer </a:t>
            </a:r>
            <a:endParaRPr lang="hu-HU" dirty="0"/>
          </a:p>
          <a:p>
            <a:r>
              <a:rPr lang="hu-HU" dirty="0"/>
              <a:t>A projekt során a </a:t>
            </a:r>
            <a:r>
              <a:rPr lang="hu-HU" b="1" dirty="0" err="1"/>
              <a:t>Git</a:t>
            </a:r>
            <a:r>
              <a:rPr lang="hu-HU" b="1" dirty="0"/>
              <a:t> </a:t>
            </a:r>
            <a:r>
              <a:rPr lang="hu-HU" dirty="0"/>
              <a:t>verziókezelő rendszer került alkalmazásra, amely napjaink egyik legelterjedtebb és legmegbízhatóbb megoldása. </a:t>
            </a:r>
          </a:p>
          <a:p>
            <a:r>
              <a:rPr lang="hu-HU" dirty="0"/>
              <a:t>A </a:t>
            </a:r>
            <a:r>
              <a:rPr lang="hu-HU" dirty="0" err="1"/>
              <a:t>Git</a:t>
            </a:r>
            <a:r>
              <a:rPr lang="hu-HU" dirty="0"/>
              <a:t> előnyei: </a:t>
            </a:r>
          </a:p>
          <a:p>
            <a:r>
              <a:rPr lang="hu-HU" dirty="0"/>
              <a:t>elosztott verziókezelés </a:t>
            </a:r>
          </a:p>
          <a:p>
            <a:r>
              <a:rPr lang="hu-HU" dirty="0"/>
              <a:t>gyors működés </a:t>
            </a:r>
          </a:p>
          <a:p>
            <a:r>
              <a:rPr lang="hu-HU" dirty="0"/>
              <a:t>rugalmas munkafolyamat-kezelés </a:t>
            </a:r>
          </a:p>
          <a:p>
            <a:r>
              <a:rPr lang="hu-HU" dirty="0"/>
              <a:t>széles körű ipari elfogadottság 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Git</a:t>
            </a:r>
            <a:r>
              <a:rPr lang="hu-HU" dirty="0"/>
              <a:t> lehetővé tette, hogy a fejlesztés minden egyes lépése külön rögzítésre kerüljön, így a projekt fejlődése pontosan nyomon követhető.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481882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B10BE7-617A-EED1-2ACC-01B09D31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14. Biztonsági megoldások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3D0918-D890-F13E-ED44-8FEFD987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b="1" dirty="0"/>
              <a:t>14.1 A biztonság szerepe a webalkalmazásban </a:t>
            </a:r>
            <a:endParaRPr lang="hu-HU" dirty="0"/>
          </a:p>
          <a:p>
            <a:r>
              <a:rPr lang="hu-HU" dirty="0"/>
              <a:t>A webalkalmazások biztonsága kiemelten fontos szempont, mivel az alkalmazás felhasználói adatokat kezel és adatbázissal kommunikál. A megfelelő biztonsági megoldások hiánya adatvesztéshez, jogosulatlan hozzáféréshez vagy a rendszer működésének veszélyeztetéséhez vezethet. </a:t>
            </a:r>
          </a:p>
          <a:p>
            <a:r>
              <a:rPr lang="hu-HU" dirty="0"/>
              <a:t>A projekt során a biztonság nem utólagos szempontként jelent meg, hanem már a tervezési fázistól kezdve beépült a rendszer működésébe. Az alkalmazás célja nemcsak a helyes működés, hanem a </a:t>
            </a:r>
            <a:r>
              <a:rPr lang="hu-HU" b="1" dirty="0"/>
              <a:t>biztonságos működés </a:t>
            </a:r>
            <a:r>
              <a:rPr lang="hu-HU" dirty="0"/>
              <a:t>biztosítása is volt. </a:t>
            </a:r>
          </a:p>
          <a:p>
            <a:r>
              <a:rPr lang="hu-HU" b="1" dirty="0"/>
              <a:t>14.2 Felhasználói bemenetek biztonságos kezelése </a:t>
            </a:r>
            <a:endParaRPr lang="hu-HU" dirty="0"/>
          </a:p>
          <a:p>
            <a:r>
              <a:rPr lang="hu-HU" dirty="0"/>
              <a:t>A leggyakoribb biztonsági problémák forrása a felhasználó által megadott adatok nem megfelelő kezelése. Ennek elkerülése érdekében az alkalmazás minden adatbevitel esetén ellenőrzéseket végez. </a:t>
            </a:r>
          </a:p>
          <a:p>
            <a:r>
              <a:rPr lang="hu-HU" dirty="0"/>
              <a:t>A bemenetek biztonságos kezelése során: </a:t>
            </a:r>
          </a:p>
          <a:p>
            <a:r>
              <a:rPr lang="hu-HU" dirty="0"/>
              <a:t>csak elvárt típusú adatok kerülhetnek feldolgozásra </a:t>
            </a:r>
          </a:p>
          <a:p>
            <a:r>
              <a:rPr lang="hu-HU" dirty="0"/>
              <a:t>a hibás vagy hiányos adatok elutasításra kerülnek </a:t>
            </a:r>
          </a:p>
          <a:p>
            <a:r>
              <a:rPr lang="hu-HU" dirty="0"/>
              <a:t>a rendszer nem engedélyezi a veszélyes adatbeviteleket </a:t>
            </a:r>
          </a:p>
          <a:p>
            <a:endParaRPr lang="hu-HU" dirty="0"/>
          </a:p>
          <a:p>
            <a:r>
              <a:rPr lang="hu-HU" dirty="0"/>
              <a:t>Ez a megközelítés csökkenti a rosszindulatú beavatkozások lehetőségét és növeli a rendszer stabilitását.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64358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BC3113-AF0F-BA03-745E-4993EE9D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15. Telepítési útmutató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CDAECF-01FA-80FE-811A-5F68AC713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hu-HU" b="1" dirty="0"/>
              <a:t>15.1 A telepítési útmutató célja </a:t>
            </a:r>
            <a:endParaRPr lang="hu-HU" dirty="0"/>
          </a:p>
          <a:p>
            <a:r>
              <a:rPr lang="hu-HU" dirty="0"/>
              <a:t>A telepítési útmutató célja, hogy részletes, lépésről lépésre követhető leírást adjon az alkalmazás futtatásához szükséges környezet beállításáról. Ez a fejezet biztosítja, hogy az alkalmazás egy másik számítógépen is könnyedén üzembe helyezhető legyen. </a:t>
            </a:r>
          </a:p>
          <a:p>
            <a:r>
              <a:rPr lang="hu-HU" dirty="0"/>
              <a:t>A dokumentáció célközönsége: </a:t>
            </a:r>
          </a:p>
          <a:p>
            <a:r>
              <a:rPr lang="hu-HU" dirty="0"/>
              <a:t>oktatók és vizsgabizottság tagjai </a:t>
            </a:r>
          </a:p>
          <a:p>
            <a:r>
              <a:rPr lang="hu-HU" dirty="0"/>
              <a:t>fejlesztők </a:t>
            </a:r>
          </a:p>
          <a:p>
            <a:r>
              <a:rPr lang="hu-HU" dirty="0"/>
              <a:t>rendszert üzemeltető személyek </a:t>
            </a:r>
          </a:p>
          <a:p>
            <a:endParaRPr lang="hu-HU" dirty="0"/>
          </a:p>
          <a:p>
            <a:r>
              <a:rPr lang="hu-HU" dirty="0"/>
              <a:t>Az útmutató bemutatja a szükséges szoftvereket, azok beállítását, valamint az alkalmazás indításának módját. </a:t>
            </a:r>
          </a:p>
          <a:p>
            <a:r>
              <a:rPr lang="hu-HU" b="1" dirty="0"/>
              <a:t>15.2 Rendszerkövetelmények </a:t>
            </a:r>
            <a:endParaRPr lang="hu-HU" dirty="0"/>
          </a:p>
          <a:p>
            <a:r>
              <a:rPr lang="hu-HU" dirty="0"/>
              <a:t>Az alkalmazás futtatásához az alábbi alapvető hardver- és szoftverfeltételek szükségesek: </a:t>
            </a:r>
          </a:p>
          <a:p>
            <a:r>
              <a:rPr lang="hu-HU" b="1" dirty="0"/>
              <a:t>Hardver követelmények: </a:t>
            </a:r>
            <a:endParaRPr lang="hu-HU" dirty="0"/>
          </a:p>
          <a:p>
            <a:r>
              <a:rPr lang="hu-HU" dirty="0"/>
              <a:t>asztali számítógép vagy laptop </a:t>
            </a:r>
          </a:p>
          <a:p>
            <a:r>
              <a:rPr lang="hu-HU" dirty="0"/>
              <a:t>legalább 4 GB RAM </a:t>
            </a:r>
          </a:p>
          <a:p>
            <a:r>
              <a:rPr lang="hu-HU" dirty="0"/>
              <a:t>stabil internetkapcsolat </a:t>
            </a:r>
          </a:p>
          <a:p>
            <a:endParaRPr lang="hu-HU" dirty="0"/>
          </a:p>
          <a:p>
            <a:r>
              <a:rPr lang="hu-HU" b="1" dirty="0"/>
              <a:t>Szoftver követelmények: </a:t>
            </a:r>
            <a:endParaRPr lang="hu-HU" dirty="0"/>
          </a:p>
          <a:p>
            <a:r>
              <a:rPr lang="hu-HU" dirty="0"/>
              <a:t>Windows vagy Linux operációs rendszer </a:t>
            </a:r>
          </a:p>
          <a:p>
            <a:r>
              <a:rPr lang="hu-HU" dirty="0"/>
              <a:t>modern webböngésző (Chrome, Firefox, Edge) </a:t>
            </a:r>
          </a:p>
          <a:p>
            <a:endParaRPr lang="hu-HU" dirty="0"/>
          </a:p>
          <a:p>
            <a:r>
              <a:rPr lang="hu-HU" dirty="0"/>
              <a:t>Ezek a követelmények biztosítják az alkalmazás zavartalan működését fejlesztési környezetben.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69966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0E72AA-0D20-5CC1-EECC-E47C9E3C5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16. Továbbfejlesztési lehetőségek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73CA204-1C15-E5AB-D845-F6DCA747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hu-HU" b="1" dirty="0"/>
              <a:t>16.1 A továbbfejlesztés jelentősége </a:t>
            </a:r>
            <a:endParaRPr lang="hu-HU" dirty="0"/>
          </a:p>
          <a:p>
            <a:r>
              <a:rPr lang="hu-HU" dirty="0"/>
              <a:t>A szoftverfejlesztés ritkán zárul le egyetlen verzió elkészítésével. A legtöbb alkalmazás folyamatosan fejlődik, új funkciókkal bővül, illetve a felhasználói igényekhez igazodik. Ezért fontos, hogy már a projekt elkészítése során felmerüljenek a továbbfejlesztési lehetőségek. </a:t>
            </a:r>
          </a:p>
          <a:p>
            <a:r>
              <a:rPr lang="hu-HU" dirty="0"/>
              <a:t>Jelen vizsgaremek esetében az alkalmazás stabil alapot biztosít, amelyre további funkciók és bővítések építhetők. A következő alfejezetek bemutatják azokat a fejlesztési irányokat, amelyekkel a rendszer továbbfejleszthető lenne. </a:t>
            </a:r>
          </a:p>
          <a:p>
            <a:r>
              <a:rPr lang="hu-HU" b="1" dirty="0"/>
              <a:t>16.2 Felhasználókezelés és jogosultsági rendszer </a:t>
            </a:r>
            <a:endParaRPr lang="hu-HU" dirty="0"/>
          </a:p>
          <a:p>
            <a:r>
              <a:rPr lang="hu-HU" dirty="0"/>
              <a:t>Az egyik legkézenfekvőbb továbbfejlesztési lehetőség a felhasználókezelés bevezetése. Ez lehetővé tenné, hogy a rendszer több felhasználót különböztessen meg, valamint eltérő jogosultságokat biztosítson számukra. </a:t>
            </a:r>
          </a:p>
          <a:p>
            <a:r>
              <a:rPr lang="hu-HU" dirty="0"/>
              <a:t>Lehetséges funkciók: </a:t>
            </a:r>
          </a:p>
          <a:p>
            <a:r>
              <a:rPr lang="hu-HU" dirty="0"/>
              <a:t>regisztráció és bejelentkezés </a:t>
            </a:r>
          </a:p>
          <a:p>
            <a:r>
              <a:rPr lang="hu-HU" dirty="0"/>
              <a:t>felhasználói szerepkörök (pl. </a:t>
            </a:r>
            <a:r>
              <a:rPr lang="hu-HU" dirty="0" err="1"/>
              <a:t>admin</a:t>
            </a:r>
            <a:r>
              <a:rPr lang="hu-HU" dirty="0"/>
              <a:t>, felhasználó) </a:t>
            </a:r>
          </a:p>
          <a:p>
            <a:r>
              <a:rPr lang="hu-HU" dirty="0"/>
              <a:t>jogosultság alapú műveletvégzés </a:t>
            </a:r>
          </a:p>
          <a:p>
            <a:endParaRPr lang="hu-HU" dirty="0"/>
          </a:p>
          <a:p>
            <a:r>
              <a:rPr lang="hu-HU" dirty="0"/>
              <a:t>Ezzel a fejlesztéssel az alkalmazás biztonságosabbá és skálázhatóbbá válna. </a:t>
            </a:r>
          </a:p>
          <a:p>
            <a:r>
              <a:rPr lang="hu-HU" b="1" dirty="0"/>
              <a:t>16.3 Keresési és szűrési funkciók </a:t>
            </a:r>
            <a:endParaRPr lang="hu-HU" dirty="0"/>
          </a:p>
          <a:p>
            <a:r>
              <a:rPr lang="hu-HU" dirty="0"/>
              <a:t>A jelenlegi adatkezelő rendszer továbbfejleszthető keresési és szűrési lehetőségekkel. Ez különösen nagyobb adatmennyiség esetén növeli a használhatóságot. </a:t>
            </a:r>
          </a:p>
          <a:p>
            <a:r>
              <a:rPr lang="hu-HU" dirty="0"/>
              <a:t>Példák: </a:t>
            </a:r>
          </a:p>
          <a:p>
            <a:r>
              <a:rPr lang="hu-HU" dirty="0"/>
              <a:t>szöveges keresés adatok között </a:t>
            </a:r>
          </a:p>
          <a:p>
            <a:r>
              <a:rPr lang="hu-HU" dirty="0"/>
              <a:t>szűrés különböző mezők szerint </a:t>
            </a:r>
          </a:p>
          <a:p>
            <a:r>
              <a:rPr lang="hu-HU" dirty="0"/>
              <a:t>rendezés növekvő vagy csökkenő sorrendben </a:t>
            </a:r>
          </a:p>
          <a:p>
            <a:endParaRPr lang="hu-HU" dirty="0"/>
          </a:p>
          <a:p>
            <a:r>
              <a:rPr lang="hu-HU" dirty="0"/>
              <a:t>Ezek az eszközök jelentősen javítanák a felhasználói élményt.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89548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AE4017-EB86-9707-70F6-68CB6E00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17. Összegzés </a:t>
            </a:r>
            <a:endParaRPr lang="LID4096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5ACF8C-2975-5215-EFB5-4B926DAFE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l-PL" b="1" dirty="0"/>
              <a:t>17.1 A projekt céljának teljesülése </a:t>
            </a:r>
            <a:endParaRPr lang="pl-PL" dirty="0"/>
          </a:p>
          <a:p>
            <a:r>
              <a:rPr lang="hu-HU" dirty="0"/>
              <a:t>A vizsgaremek elkészítésének célja egy olyan webalapú alkalmazás megvalósítása volt, amely megfelel az Oktáv Szoftverfejlesztő–tesztelő képzés szakmai és formai követelményeinek. A projekt során egy </a:t>
            </a:r>
            <a:r>
              <a:rPr lang="hu-HU" dirty="0" err="1"/>
              <a:t>Laravel</a:t>
            </a:r>
            <a:r>
              <a:rPr lang="hu-HU" dirty="0"/>
              <a:t> alapú adatkezelő rendszer készült el, amely stabil, átlátható és jól dokumentált megoldást nyújt. </a:t>
            </a:r>
          </a:p>
          <a:p>
            <a:r>
              <a:rPr lang="hu-HU" dirty="0"/>
              <a:t>A kitűzött célok teljesültek, mivel az alkalmazás: </a:t>
            </a:r>
          </a:p>
          <a:p>
            <a:r>
              <a:rPr lang="hu-HU" dirty="0"/>
              <a:t>MVC architektúrát alkalmaz </a:t>
            </a:r>
          </a:p>
          <a:p>
            <a:r>
              <a:rPr lang="hu-HU" dirty="0"/>
              <a:t>adatbázissal kommunikál </a:t>
            </a:r>
          </a:p>
          <a:p>
            <a:r>
              <a:rPr lang="hu-HU" dirty="0"/>
              <a:t>CRUD műveleteket valósít meg </a:t>
            </a:r>
          </a:p>
          <a:p>
            <a:r>
              <a:rPr lang="hu-HU" dirty="0"/>
              <a:t>megfelelő hibakezeléssel és validációval rendelkezik </a:t>
            </a:r>
          </a:p>
          <a:p>
            <a:r>
              <a:rPr lang="hu-HU" dirty="0"/>
              <a:t>tesztelhető és továbbfejleszthető </a:t>
            </a:r>
          </a:p>
          <a:p>
            <a:endParaRPr lang="hu-HU" dirty="0"/>
          </a:p>
          <a:p>
            <a:r>
              <a:rPr lang="hu-HU" dirty="0"/>
              <a:t>Ezáltal a projekt alkalmas vizsgaremekként történő benyújtásra.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1934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2019</Words>
  <Application>Microsoft Office PowerPoint</Application>
  <PresentationFormat>Szélesvásznú</PresentationFormat>
  <Paragraphs>297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Office-téma</vt:lpstr>
      <vt:lpstr>Záródolgozat prezentáció ADATKEZELŐ WEBALKALMAZÁS</vt:lpstr>
      <vt:lpstr>Tartalomjegyzék</vt:lpstr>
      <vt:lpstr> 1. Bevezetés</vt:lpstr>
      <vt:lpstr>2. A PROJEKT CÉLJA ÉS KÖVETELMÉNYRENDSZERE </vt:lpstr>
      <vt:lpstr>3. ALKALMAZOTT FEJLESZTÉSI MÓDSZERTAN </vt:lpstr>
      <vt:lpstr>4. FELHASZNÁLT TECHNOLÓGIÁK részletes bemutatása </vt:lpstr>
      <vt:lpstr>5. FELHASZNÁLT TECHNOLÓGIÁK – RÉSZLETES ISMERTETÉS </vt:lpstr>
      <vt:lpstr>6. BACKEND MEGVALÓSÍTÁS (LARAVEL) </vt:lpstr>
      <vt:lpstr>7. Frontend megvalósítás </vt:lpstr>
      <vt:lpstr>9. ADATBÁZIS TERVEZÉS </vt:lpstr>
      <vt:lpstr>8. Adatbázis-tervezés és megvalósítás </vt:lpstr>
      <vt:lpstr>9. ADATBÁZIS TERVEZÉS </vt:lpstr>
      <vt:lpstr>10. Felhasználói dokumentáció </vt:lpstr>
      <vt:lpstr>11. Hibakezelés és validáció </vt:lpstr>
      <vt:lpstr>12. TESZTELÉSI DOKUMENTÁCIÓ </vt:lpstr>
      <vt:lpstr>13. Verziókezelés és munkafolyamat </vt:lpstr>
      <vt:lpstr>14. Biztonsági megoldások </vt:lpstr>
      <vt:lpstr>15. Telepítési útmutató </vt:lpstr>
      <vt:lpstr>16. Továbbfejlesztési lehetőségek </vt:lpstr>
      <vt:lpstr>17. Összegzés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Jakubinyi Máté</dc:creator>
  <cp:lastModifiedBy>Őszi Napsugár konyha</cp:lastModifiedBy>
  <cp:revision>3</cp:revision>
  <dcterms:created xsi:type="dcterms:W3CDTF">2026-05-04T13:05:11Z</dcterms:created>
  <dcterms:modified xsi:type="dcterms:W3CDTF">2026-10-05T13:57:21Z</dcterms:modified>
</cp:coreProperties>
</file>